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13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x="18288000" cy="10287000"/>
  <p:notesSz cx="6858000" cy="9144000"/>
  <p:embeddedFontLst>
    <p:embeddedFont>
      <p:font typeface="Clear Sans" panose="020B0604020202020204" charset="0"/>
      <p:regular r:id="rId14"/>
    </p:embeddedFont>
    <p:embeddedFont>
      <p:font typeface="Clear Sans Bold" panose="020B0604020202020204" charset="0"/>
      <p:regular r:id="rId15"/>
    </p:embeddedFont>
    <p:embeddedFont>
      <p:font typeface="Clear Sans Medium" panose="020B0604020202020204" charset="0"/>
      <p:regular r:id="rId16"/>
    </p:embeddedFont>
    <p:embeddedFont>
      <p:font typeface="Tenor Sans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60" d="100"/>
          <a:sy n="60" d="100"/>
        </p:scale>
        <p:origin x="1374" y="42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4.fntdata"/><Relationship Id="rId2" Type="http://schemas.openxmlformats.org/officeDocument/2006/relationships/customXml" Target="../customXml/item2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font" Target="fonts/font2.fntdata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5BD19-82EC-4E3A-AB47-ABE5178FD64B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3BF0A0-3C4D-4D02-AAED-BE84D8B001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9149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3BF0A0-3C4D-4D02-AAED-BE84D8B0017D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90250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3BF0A0-3C4D-4D02-AAED-BE84D8B0017D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78780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B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9763125" cy="8014428"/>
            <a:chOff x="0" y="0"/>
            <a:chExt cx="13017500" cy="10685904"/>
          </a:xfrm>
        </p:grpSpPr>
        <p:sp>
          <p:nvSpPr>
            <p:cNvPr id="3" name="TextBox 3"/>
            <p:cNvSpPr txBox="1"/>
            <p:nvPr/>
          </p:nvSpPr>
          <p:spPr>
            <a:xfrm>
              <a:off x="0" y="209550"/>
              <a:ext cx="13017500" cy="56409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0999"/>
                </a:lnSpc>
              </a:pPr>
              <a:r>
                <a:rPr lang="en-US" sz="10999" spc="-219" dirty="0">
                  <a:solidFill>
                    <a:srgbClr val="839496"/>
                  </a:solidFill>
                  <a:latin typeface="Tenor Sans"/>
                  <a:ea typeface="Tenor Sans"/>
                  <a:cs typeface="Tenor Sans"/>
                  <a:sym typeface="Tenor Sans"/>
                </a:rPr>
                <a:t>Malicious URL Classifier</a:t>
              </a:r>
            </a:p>
            <a:p>
              <a:pPr marL="0" lvl="0" indent="0" algn="l">
                <a:lnSpc>
                  <a:spcPts val="10500"/>
                </a:lnSpc>
              </a:pPr>
              <a:endParaRPr lang="en-US" sz="10999" spc="-219" dirty="0">
                <a:solidFill>
                  <a:srgbClr val="839496"/>
                </a:solidFill>
                <a:latin typeface="Tenor Sans"/>
                <a:ea typeface="Tenor Sans"/>
                <a:cs typeface="Tenor Sans"/>
                <a:sym typeface="Tenor San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5613010"/>
              <a:ext cx="13017500" cy="144377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480"/>
                </a:lnSpc>
                <a:spcBef>
                  <a:spcPct val="0"/>
                </a:spcBef>
              </a:pPr>
              <a:r>
                <a:rPr lang="en-US" sz="3200" dirty="0">
                  <a:solidFill>
                    <a:srgbClr val="839496"/>
                  </a:solidFill>
                  <a:latin typeface="Clear Sans"/>
                  <a:ea typeface="Clear Sans"/>
                  <a:cs typeface="Clear Sans"/>
                  <a:sym typeface="Clear Sans"/>
                </a:rPr>
                <a:t>A SUPERVISED MACHINE LEARNING APPROACH FOR DETECTING ZERO-DAY PHISHING ATTACKS.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6999634"/>
              <a:ext cx="13017500" cy="36862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480"/>
                </a:lnSpc>
              </a:pPr>
              <a:endParaRPr/>
            </a:p>
            <a:p>
              <a:pPr algn="l">
                <a:lnSpc>
                  <a:spcPts val="4480"/>
                </a:lnSpc>
              </a:pPr>
              <a:endParaRPr/>
            </a:p>
            <a:p>
              <a:pPr marL="0" lvl="0" indent="0" algn="l">
                <a:lnSpc>
                  <a:spcPts val="4480"/>
                </a:lnSpc>
                <a:spcBef>
                  <a:spcPct val="0"/>
                </a:spcBef>
              </a:pPr>
              <a:r>
                <a:rPr lang="en-US" sz="3200">
                  <a:solidFill>
                    <a:srgbClr val="839496"/>
                  </a:solidFill>
                  <a:latin typeface="Clear Sans"/>
                  <a:ea typeface="Clear Sans"/>
                  <a:cs typeface="Clear Sans"/>
                  <a:sym typeface="Clear Sans"/>
                </a:rPr>
                <a:t>DEEPU R</a:t>
              </a:r>
            </a:p>
            <a:p>
              <a:pPr marL="0" lvl="0" indent="0" algn="l">
                <a:lnSpc>
                  <a:spcPts val="4480"/>
                </a:lnSpc>
                <a:spcBef>
                  <a:spcPct val="0"/>
                </a:spcBef>
              </a:pPr>
              <a:r>
                <a:rPr lang="en-US" sz="3200">
                  <a:solidFill>
                    <a:srgbClr val="839496"/>
                  </a:solidFill>
                  <a:latin typeface="Clear Sans"/>
                  <a:ea typeface="Clear Sans"/>
                  <a:cs typeface="Clear Sans"/>
                  <a:sym typeface="Clear Sans"/>
                </a:rPr>
                <a:t>AA.SC.P2MCA24077088</a:t>
              </a:r>
            </a:p>
            <a:p>
              <a:pPr marL="0" lvl="0" indent="0" algn="l">
                <a:lnSpc>
                  <a:spcPts val="4480"/>
                </a:lnSpc>
                <a:spcBef>
                  <a:spcPct val="0"/>
                </a:spcBef>
              </a:pPr>
              <a:r>
                <a:rPr lang="en-US" sz="3200">
                  <a:solidFill>
                    <a:srgbClr val="839496"/>
                  </a:solidFill>
                  <a:latin typeface="Clear Sans"/>
                  <a:ea typeface="Clear Sans"/>
                  <a:cs typeface="Clear Sans"/>
                  <a:sym typeface="Clear Sans"/>
                </a:rPr>
                <a:t>AMRITA VISHWA VIDYAPEETHAM</a:t>
              </a:r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1E41EBCF-5326-2EF8-DD2A-0D1C09D55B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77750" y="131"/>
            <a:ext cx="5810250" cy="10324969"/>
          </a:xfrm>
          <a:prstGeom prst="rect">
            <a:avLst/>
          </a:prstGeom>
        </p:spPr>
      </p:pic>
      <p:sp>
        <p:nvSpPr>
          <p:cNvPr id="8" name="Freeform 8"/>
          <p:cNvSpPr/>
          <p:nvPr/>
        </p:nvSpPr>
        <p:spPr>
          <a:xfrm>
            <a:off x="8469835" y="7434204"/>
            <a:ext cx="6389165" cy="2890896"/>
          </a:xfrm>
          <a:custGeom>
            <a:avLst/>
            <a:gdLst/>
            <a:ahLst/>
            <a:cxnLst/>
            <a:rect l="l" t="t" r="r" b="b"/>
            <a:pathLst>
              <a:path w="6274865" h="4114800">
                <a:moveTo>
                  <a:pt x="0" y="0"/>
                </a:moveTo>
                <a:lnTo>
                  <a:pt x="6274865" y="0"/>
                </a:lnTo>
                <a:lnTo>
                  <a:pt x="627486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1" r="1788" b="-42336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36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1562100"/>
            <a:ext cx="8244231" cy="2111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399"/>
              </a:lnSpc>
            </a:pPr>
            <a:r>
              <a:rPr lang="en-US" sz="6999" spc="-139">
                <a:solidFill>
                  <a:srgbClr val="839496"/>
                </a:solidFill>
                <a:latin typeface="Tenor Sans"/>
                <a:ea typeface="Tenor Sans"/>
                <a:cs typeface="Tenor Sans"/>
                <a:sym typeface="Tenor Sans"/>
              </a:rPr>
              <a:t>Problem Statement &amp; Motivation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3366065" y="4607027"/>
            <a:ext cx="14513167" cy="5187747"/>
            <a:chOff x="0" y="0"/>
            <a:chExt cx="19350890" cy="6916995"/>
          </a:xfrm>
        </p:grpSpPr>
        <p:sp>
          <p:nvSpPr>
            <p:cNvPr id="4" name="TextBox 4"/>
            <p:cNvSpPr txBox="1"/>
            <p:nvPr/>
          </p:nvSpPr>
          <p:spPr>
            <a:xfrm>
              <a:off x="256861" y="-57150"/>
              <a:ext cx="10450511" cy="6227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19"/>
                </a:lnSpc>
                <a:spcBef>
                  <a:spcPct val="0"/>
                </a:spcBef>
              </a:pPr>
              <a:r>
                <a:rPr lang="en-US" sz="2799" b="1">
                  <a:solidFill>
                    <a:srgbClr val="839496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LIMITATIONS OF TRADITIONAL APPROACH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1696237"/>
              <a:ext cx="19350890" cy="52207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39749" lvl="1" indent="-269875" algn="l">
                <a:lnSpc>
                  <a:spcPts val="349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499">
                  <a:solidFill>
                    <a:srgbClr val="839496"/>
                  </a:solidFill>
                  <a:latin typeface="Clear Sans"/>
                  <a:ea typeface="Clear Sans"/>
                  <a:cs typeface="Clear Sans"/>
                  <a:sym typeface="Clear Sans"/>
                </a:rPr>
                <a:t>The Problem: Traditional firewalls rely on static "Blocklists" (Blacklisting). They can only stop known threats.</a:t>
              </a:r>
            </a:p>
            <a:p>
              <a:pPr algn="l">
                <a:lnSpc>
                  <a:spcPts val="3499"/>
                </a:lnSpc>
                <a:spcBef>
                  <a:spcPct val="0"/>
                </a:spcBef>
              </a:pPr>
              <a:endParaRPr lang="en-US" sz="2499">
                <a:solidFill>
                  <a:srgbClr val="839496"/>
                </a:solidFill>
                <a:latin typeface="Clear Sans"/>
                <a:ea typeface="Clear Sans"/>
                <a:cs typeface="Clear Sans"/>
                <a:sym typeface="Clear Sans"/>
              </a:endParaRPr>
            </a:p>
            <a:p>
              <a:pPr marL="539749" lvl="1" indent="-269875" algn="l">
                <a:lnSpc>
                  <a:spcPts val="349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499">
                  <a:solidFill>
                    <a:srgbClr val="839496"/>
                  </a:solidFill>
                  <a:latin typeface="Clear Sans"/>
                  <a:ea typeface="Clear Sans"/>
                  <a:cs typeface="Clear Sans"/>
                  <a:sym typeface="Clear Sans"/>
                </a:rPr>
                <a:t>The Gap: Hackers use Domain Generation Algorithms (DGA) to create thousands of new, temporary URLs every day that existing firewall-blocklists might miss.</a:t>
              </a:r>
            </a:p>
            <a:p>
              <a:pPr algn="l">
                <a:lnSpc>
                  <a:spcPts val="3499"/>
                </a:lnSpc>
                <a:spcBef>
                  <a:spcPct val="0"/>
                </a:spcBef>
              </a:pPr>
              <a:endParaRPr lang="en-US" sz="2499">
                <a:solidFill>
                  <a:srgbClr val="839496"/>
                </a:solidFill>
                <a:latin typeface="Clear Sans"/>
                <a:ea typeface="Clear Sans"/>
                <a:cs typeface="Clear Sans"/>
                <a:sym typeface="Clear Sans"/>
              </a:endParaRPr>
            </a:p>
            <a:p>
              <a:pPr marL="539749" lvl="1" indent="-269875" algn="l">
                <a:lnSpc>
                  <a:spcPts val="349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499">
                  <a:solidFill>
                    <a:srgbClr val="839496"/>
                  </a:solidFill>
                  <a:latin typeface="Clear Sans"/>
                  <a:ea typeface="Clear Sans"/>
                  <a:cs typeface="Clear Sans"/>
                  <a:sym typeface="Clear Sans"/>
                </a:rPr>
                <a:t>The Solution: This project builds an AI engine that moves from Reactive Matching (checking a pre-entered list) to Proactive Prediction (analyzing the URL's behavior before it reaches the user).</a:t>
              </a:r>
            </a:p>
            <a:p>
              <a:pPr marL="0" lvl="0" indent="0" algn="l">
                <a:lnSpc>
                  <a:spcPts val="3499"/>
                </a:lnSpc>
                <a:spcBef>
                  <a:spcPct val="0"/>
                </a:spcBef>
              </a:pPr>
              <a:endParaRPr lang="en-US" sz="2499">
                <a:solidFill>
                  <a:srgbClr val="839496"/>
                </a:solidFill>
                <a:latin typeface="Clear Sans"/>
                <a:ea typeface="Clear Sans"/>
                <a:cs typeface="Clear Sans"/>
                <a:sym typeface="Clear Sans"/>
              </a:endParaRPr>
            </a:p>
          </p:txBody>
        </p:sp>
      </p:grpSp>
      <p:sp>
        <p:nvSpPr>
          <p:cNvPr id="6" name="Freeform 6"/>
          <p:cNvSpPr/>
          <p:nvPr/>
        </p:nvSpPr>
        <p:spPr>
          <a:xfrm>
            <a:off x="0" y="7200900"/>
            <a:ext cx="3137433" cy="3086100"/>
          </a:xfrm>
          <a:custGeom>
            <a:avLst/>
            <a:gdLst/>
            <a:ahLst/>
            <a:cxnLst/>
            <a:rect l="l" t="t" r="r" b="b"/>
            <a:pathLst>
              <a:path w="6274865" h="4114800">
                <a:moveTo>
                  <a:pt x="0" y="0"/>
                </a:moveTo>
                <a:lnTo>
                  <a:pt x="6274864" y="0"/>
                </a:lnTo>
                <a:lnTo>
                  <a:pt x="62748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00000" b="-33333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86E7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0800000">
            <a:off x="5867400" y="-951290"/>
            <a:ext cx="12420600" cy="6094790"/>
          </a:xfrm>
          <a:custGeom>
            <a:avLst/>
            <a:gdLst/>
            <a:ahLst/>
            <a:cxnLst/>
            <a:rect l="l" t="t" r="r" b="b"/>
            <a:pathLst>
              <a:path w="14136818" h="12003443">
                <a:moveTo>
                  <a:pt x="0" y="0"/>
                </a:moveTo>
                <a:lnTo>
                  <a:pt x="14136818" y="0"/>
                </a:lnTo>
                <a:lnTo>
                  <a:pt x="14136818" y="12003443"/>
                </a:lnTo>
                <a:lnTo>
                  <a:pt x="0" y="120034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0861" t="-917" r="73103" b="-44282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TextBox 3"/>
          <p:cNvSpPr txBox="1"/>
          <p:nvPr/>
        </p:nvSpPr>
        <p:spPr>
          <a:xfrm>
            <a:off x="2105025" y="1562100"/>
            <a:ext cx="14077950" cy="1055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399"/>
              </a:lnSpc>
            </a:pPr>
            <a:r>
              <a:rPr lang="en-US" sz="6999" spc="-139">
                <a:solidFill>
                  <a:srgbClr val="002B36"/>
                </a:solidFill>
                <a:latin typeface="Tenor Sans"/>
                <a:ea typeface="Tenor Sans"/>
                <a:cs typeface="Tenor Sans"/>
                <a:sym typeface="Tenor Sans"/>
              </a:rPr>
              <a:t>Engineering Strategy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666750" y="5143500"/>
            <a:ext cx="5448300" cy="4232924"/>
            <a:chOff x="0" y="0"/>
            <a:chExt cx="7264400" cy="5643898"/>
          </a:xfrm>
        </p:grpSpPr>
        <p:sp>
          <p:nvSpPr>
            <p:cNvPr id="5" name="TextBox 5"/>
            <p:cNvSpPr txBox="1"/>
            <p:nvPr/>
          </p:nvSpPr>
          <p:spPr>
            <a:xfrm>
              <a:off x="0" y="-47625"/>
              <a:ext cx="7264400" cy="10839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9"/>
                </a:lnSpc>
              </a:pPr>
              <a:r>
                <a:rPr lang="en-US" sz="2400" b="1">
                  <a:solidFill>
                    <a:srgbClr val="ABBCBE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STRUCTURAL ANALYSIS</a:t>
              </a:r>
            </a:p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endParaRPr lang="en-US" sz="2400" b="1">
                <a:solidFill>
                  <a:srgbClr val="ABBCBE"/>
                </a:solidFill>
                <a:latin typeface="Clear Sans Medium"/>
                <a:ea typeface="Clear Sans Medium"/>
                <a:cs typeface="Clear Sans Medium"/>
                <a:sym typeface="Clear Sans Medium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1704993"/>
              <a:ext cx="7264400" cy="39389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53390" lvl="1" indent="-226695" algn="l">
                <a:lnSpc>
                  <a:spcPts val="294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100">
                  <a:solidFill>
                    <a:srgbClr val="ABBCBE"/>
                  </a:solidFill>
                  <a:latin typeface="Clear Sans"/>
                  <a:ea typeface="Clear Sans"/>
                  <a:cs typeface="Clear Sans"/>
                  <a:sym typeface="Clear Sans"/>
                </a:rPr>
                <a:t>Logic: Calculating URL length and hostname length.</a:t>
              </a:r>
            </a:p>
            <a:p>
              <a:pPr algn="l">
                <a:lnSpc>
                  <a:spcPts val="2940"/>
                </a:lnSpc>
                <a:spcBef>
                  <a:spcPct val="0"/>
                </a:spcBef>
              </a:pPr>
              <a:endParaRPr lang="en-US" sz="2100">
                <a:solidFill>
                  <a:srgbClr val="ABBCBE"/>
                </a:solidFill>
                <a:latin typeface="Clear Sans"/>
                <a:ea typeface="Clear Sans"/>
                <a:cs typeface="Clear Sans"/>
                <a:sym typeface="Clear Sans"/>
              </a:endParaRPr>
            </a:p>
            <a:p>
              <a:pPr marL="453390" lvl="1" indent="-226695" algn="l">
                <a:lnSpc>
                  <a:spcPts val="294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100">
                  <a:solidFill>
                    <a:srgbClr val="ABBCBE"/>
                  </a:solidFill>
                  <a:latin typeface="Clear Sans"/>
                  <a:ea typeface="Clear Sans"/>
                  <a:cs typeface="Clear Sans"/>
                  <a:sym typeface="Clear Sans"/>
                </a:rPr>
                <a:t>Why: Phishing links (especially widespread campaigns) tend to be abnormally long to hide the true destination on mobile screens.</a:t>
              </a:r>
            </a:p>
            <a:p>
              <a:pPr marL="0" lvl="0" indent="0" algn="l">
                <a:lnSpc>
                  <a:spcPts val="2940"/>
                </a:lnSpc>
                <a:spcBef>
                  <a:spcPct val="0"/>
                </a:spcBef>
              </a:pPr>
              <a:endParaRPr lang="en-US" sz="2100">
                <a:solidFill>
                  <a:srgbClr val="ABBCBE"/>
                </a:solidFill>
                <a:latin typeface="Clear Sans"/>
                <a:ea typeface="Clear Sans"/>
                <a:cs typeface="Clear Sans"/>
                <a:sym typeface="Clear Sans"/>
              </a:endParaRP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419850" y="5143500"/>
            <a:ext cx="5448300" cy="3861449"/>
            <a:chOff x="0" y="0"/>
            <a:chExt cx="7264400" cy="5148598"/>
          </a:xfrm>
        </p:grpSpPr>
        <p:sp>
          <p:nvSpPr>
            <p:cNvPr id="8" name="TextBox 8"/>
            <p:cNvSpPr txBox="1"/>
            <p:nvPr/>
          </p:nvSpPr>
          <p:spPr>
            <a:xfrm>
              <a:off x="0" y="-47625"/>
              <a:ext cx="7264400" cy="10839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ABBCBE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TOKENIZATION &amp; SPECIAL CHARACTERS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1704993"/>
              <a:ext cx="7264400" cy="34436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53390" lvl="1" indent="-226695" algn="l">
                <a:lnSpc>
                  <a:spcPts val="294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100">
                  <a:solidFill>
                    <a:srgbClr val="ABBCBE"/>
                  </a:solidFill>
                  <a:latin typeface="Clear Sans"/>
                  <a:ea typeface="Clear Sans"/>
                  <a:cs typeface="Clear Sans"/>
                  <a:sym typeface="Clear Sans"/>
                </a:rPr>
                <a:t>Logic: Counting occurrences of @, -, ?, and (.).</a:t>
              </a:r>
            </a:p>
            <a:p>
              <a:pPr algn="l">
                <a:lnSpc>
                  <a:spcPts val="2940"/>
                </a:lnSpc>
                <a:spcBef>
                  <a:spcPct val="0"/>
                </a:spcBef>
              </a:pPr>
              <a:endParaRPr lang="en-US" sz="2100">
                <a:solidFill>
                  <a:srgbClr val="ABBCBE"/>
                </a:solidFill>
                <a:latin typeface="Clear Sans"/>
                <a:ea typeface="Clear Sans"/>
                <a:cs typeface="Clear Sans"/>
                <a:sym typeface="Clear Sans"/>
              </a:endParaRPr>
            </a:p>
            <a:p>
              <a:pPr marL="453390" lvl="1" indent="-226695" algn="l">
                <a:lnSpc>
                  <a:spcPts val="294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100">
                  <a:solidFill>
                    <a:srgbClr val="ABBCBE"/>
                  </a:solidFill>
                  <a:latin typeface="Clear Sans"/>
                  <a:ea typeface="Clear Sans"/>
                  <a:cs typeface="Clear Sans"/>
                  <a:sym typeface="Clear Sans"/>
                </a:rPr>
                <a:t>Why: Hackers use @ to trick browsers (e.g., google.com@evil.com actually goes to evil.com).</a:t>
              </a:r>
            </a:p>
            <a:p>
              <a:pPr marL="0" lvl="0" indent="0" algn="l">
                <a:lnSpc>
                  <a:spcPts val="2940"/>
                </a:lnSpc>
                <a:spcBef>
                  <a:spcPct val="0"/>
                </a:spcBef>
              </a:pPr>
              <a:endParaRPr lang="en-US" sz="2100">
                <a:solidFill>
                  <a:srgbClr val="ABBCBE"/>
                </a:solidFill>
                <a:latin typeface="Clear Sans"/>
                <a:ea typeface="Clear Sans"/>
                <a:cs typeface="Clear Sans"/>
                <a:sym typeface="Clear Sans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2172950" y="5143500"/>
            <a:ext cx="5593415" cy="3861449"/>
            <a:chOff x="0" y="0"/>
            <a:chExt cx="7457886" cy="5148598"/>
          </a:xfrm>
        </p:grpSpPr>
        <p:sp>
          <p:nvSpPr>
            <p:cNvPr id="11" name="TextBox 11"/>
            <p:cNvSpPr txBox="1"/>
            <p:nvPr/>
          </p:nvSpPr>
          <p:spPr>
            <a:xfrm>
              <a:off x="0" y="-47625"/>
              <a:ext cx="7457886" cy="10839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ABBCBE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 HOST-BASED DETECTION</a:t>
              </a:r>
            </a:p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endParaRPr lang="en-US" sz="2400" b="1">
                <a:solidFill>
                  <a:srgbClr val="ABBCBE"/>
                </a:solidFill>
                <a:latin typeface="Clear Sans Medium"/>
                <a:ea typeface="Clear Sans Medium"/>
                <a:cs typeface="Clear Sans Medium"/>
                <a:sym typeface="Clear Sans Medium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1704993"/>
              <a:ext cx="7457886" cy="34436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53390" lvl="1" indent="-226695" algn="l">
                <a:lnSpc>
                  <a:spcPts val="294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100">
                  <a:solidFill>
                    <a:srgbClr val="ABBCBE"/>
                  </a:solidFill>
                  <a:latin typeface="Clear Sans"/>
                  <a:ea typeface="Clear Sans"/>
                  <a:cs typeface="Clear Sans"/>
                  <a:sym typeface="Clear Sans"/>
                </a:rPr>
                <a:t>Logic: identifying raw IP addresses (Regex matching).</a:t>
              </a:r>
            </a:p>
            <a:p>
              <a:pPr algn="l">
                <a:lnSpc>
                  <a:spcPts val="2940"/>
                </a:lnSpc>
                <a:spcBef>
                  <a:spcPct val="0"/>
                </a:spcBef>
              </a:pPr>
              <a:endParaRPr lang="en-US" sz="2100">
                <a:solidFill>
                  <a:srgbClr val="ABBCBE"/>
                </a:solidFill>
                <a:latin typeface="Clear Sans"/>
                <a:ea typeface="Clear Sans"/>
                <a:cs typeface="Clear Sans"/>
                <a:sym typeface="Clear Sans"/>
              </a:endParaRPr>
            </a:p>
            <a:p>
              <a:pPr marL="453390" lvl="1" indent="-226695" algn="l">
                <a:lnSpc>
                  <a:spcPts val="294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100">
                  <a:solidFill>
                    <a:srgbClr val="ABBCBE"/>
                  </a:solidFill>
                  <a:latin typeface="Clear Sans"/>
                  <a:ea typeface="Clear Sans"/>
                  <a:cs typeface="Clear Sans"/>
                  <a:sym typeface="Clear Sans"/>
                </a:rPr>
                <a:t>Why: Legitimate services use DNS names; raw IPs in URLs are a high-confidence indicator of malware hosting.</a:t>
              </a:r>
            </a:p>
            <a:p>
              <a:pPr marL="0" lvl="0" indent="0" algn="ctr">
                <a:lnSpc>
                  <a:spcPts val="2940"/>
                </a:lnSpc>
                <a:spcBef>
                  <a:spcPct val="0"/>
                </a:spcBef>
              </a:pPr>
              <a:endParaRPr lang="en-US" sz="2100">
                <a:solidFill>
                  <a:srgbClr val="ABBCBE"/>
                </a:solidFill>
                <a:latin typeface="Clear Sans"/>
                <a:ea typeface="Clear Sans"/>
                <a:cs typeface="Clear Sans"/>
                <a:sym typeface="Clear Sans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B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103594"/>
            <a:ext cx="9956732" cy="8079812"/>
            <a:chOff x="0" y="0"/>
            <a:chExt cx="13275642" cy="10773082"/>
          </a:xfrm>
        </p:grpSpPr>
        <p:sp>
          <p:nvSpPr>
            <p:cNvPr id="3" name="TextBox 3"/>
            <p:cNvSpPr txBox="1"/>
            <p:nvPr/>
          </p:nvSpPr>
          <p:spPr>
            <a:xfrm>
              <a:off x="0" y="6135659"/>
              <a:ext cx="13017500" cy="525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839496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KEY METRIC FOR URL ANALYSIS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7329477"/>
              <a:ext cx="13017500" cy="34436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53390" lvl="1" indent="-226695" algn="l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839496"/>
                  </a:solidFill>
                  <a:latin typeface="Clear Sans"/>
                  <a:ea typeface="Clear Sans"/>
                  <a:cs typeface="Clear Sans"/>
                  <a:sym typeface="Clear Sans"/>
                </a:rPr>
                <a:t>Shannon Entropy calculates the </a:t>
              </a:r>
              <a:r>
                <a:rPr lang="en-US" sz="2100" b="1">
                  <a:solidFill>
                    <a:srgbClr val="839496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Chaos Score</a:t>
              </a:r>
              <a:r>
                <a:rPr lang="en-US" sz="2100">
                  <a:solidFill>
                    <a:srgbClr val="839496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of domain names, distinguishing readable domains from random strings, thus predicting malicious intent effectively.</a:t>
              </a:r>
            </a:p>
            <a:p>
              <a:pPr algn="l">
                <a:lnSpc>
                  <a:spcPts val="2940"/>
                </a:lnSpc>
              </a:pPr>
              <a:endParaRPr lang="en-US" sz="2100">
                <a:solidFill>
                  <a:srgbClr val="839496"/>
                </a:solidFill>
                <a:latin typeface="Clear Sans"/>
                <a:ea typeface="Clear Sans"/>
                <a:cs typeface="Clear Sans"/>
                <a:sym typeface="Clear Sans"/>
              </a:endParaRPr>
            </a:p>
            <a:p>
              <a:pPr marL="453390" lvl="1" indent="-226695" algn="l">
                <a:lnSpc>
                  <a:spcPts val="2940"/>
                </a:lnSpc>
                <a:buFont typeface="Arial"/>
                <a:buChar char="•"/>
              </a:pPr>
              <a:r>
                <a:rPr lang="en-US" sz="2100">
                  <a:solidFill>
                    <a:srgbClr val="839496"/>
                  </a:solidFill>
                  <a:latin typeface="Clear Sans"/>
                  <a:ea typeface="Clear Sans"/>
                  <a:cs typeface="Clear Sans"/>
                  <a:sym typeface="Clear Sans"/>
                </a:rPr>
                <a:t>Shannon Entropy measures the randomness of character distribution. While legitimate domains follow linguistic rules, bot-generated phishing domains are mathematically chaotic.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0"/>
              <a:ext cx="13275642" cy="56317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399"/>
                </a:lnSpc>
              </a:pPr>
              <a:r>
                <a:rPr lang="en-US" sz="6999" spc="-139">
                  <a:solidFill>
                    <a:srgbClr val="839496"/>
                  </a:solidFill>
                  <a:latin typeface="Tenor Sans"/>
                  <a:ea typeface="Tenor Sans"/>
                  <a:cs typeface="Tenor Sans"/>
                  <a:sym typeface="Tenor Sans"/>
                </a:rPr>
                <a:t>The Mathematical Core: Understanding Shannon Entropy</a:t>
              </a:r>
            </a:p>
            <a:p>
              <a:pPr marL="0" lvl="0" indent="0" algn="l">
                <a:lnSpc>
                  <a:spcPts val="8399"/>
                </a:lnSpc>
              </a:pPr>
              <a:endParaRPr lang="en-US" sz="6999" spc="-139">
                <a:solidFill>
                  <a:srgbClr val="839496"/>
                </a:solidFill>
                <a:latin typeface="Tenor Sans"/>
                <a:ea typeface="Tenor Sans"/>
                <a:cs typeface="Tenor Sans"/>
                <a:sym typeface="Tenor Sans"/>
              </a:endParaRPr>
            </a:p>
          </p:txBody>
        </p:sp>
      </p:grpSp>
      <p:sp>
        <p:nvSpPr>
          <p:cNvPr id="6" name="Freeform 6"/>
          <p:cNvSpPr/>
          <p:nvPr/>
        </p:nvSpPr>
        <p:spPr>
          <a:xfrm>
            <a:off x="12755379" y="387213"/>
            <a:ext cx="5209943" cy="4593985"/>
          </a:xfrm>
          <a:custGeom>
            <a:avLst/>
            <a:gdLst/>
            <a:ahLst/>
            <a:cxnLst/>
            <a:rect l="l" t="t" r="r" b="b"/>
            <a:pathLst>
              <a:path w="5209943" h="4593985">
                <a:moveTo>
                  <a:pt x="0" y="0"/>
                </a:moveTo>
                <a:lnTo>
                  <a:pt x="5209943" y="0"/>
                </a:lnTo>
                <a:lnTo>
                  <a:pt x="5209943" y="4593985"/>
                </a:lnTo>
                <a:lnTo>
                  <a:pt x="0" y="45939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47625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IN"/>
          </a:p>
        </p:txBody>
      </p:sp>
      <p:sp>
        <p:nvSpPr>
          <p:cNvPr id="7" name="Freeform 7"/>
          <p:cNvSpPr/>
          <p:nvPr/>
        </p:nvSpPr>
        <p:spPr>
          <a:xfrm>
            <a:off x="12755379" y="5320973"/>
            <a:ext cx="5209943" cy="4629448"/>
          </a:xfrm>
          <a:custGeom>
            <a:avLst/>
            <a:gdLst/>
            <a:ahLst/>
            <a:cxnLst/>
            <a:rect l="l" t="t" r="r" b="b"/>
            <a:pathLst>
              <a:path w="5209943" h="4629448">
                <a:moveTo>
                  <a:pt x="0" y="0"/>
                </a:moveTo>
                <a:lnTo>
                  <a:pt x="5209943" y="0"/>
                </a:lnTo>
                <a:lnTo>
                  <a:pt x="5209943" y="4629448"/>
                </a:lnTo>
                <a:lnTo>
                  <a:pt x="0" y="46294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w="47625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F975F8E4-A53F-DD91-812F-4083A0154A80}"/>
              </a:ext>
            </a:extLst>
          </p:cNvPr>
          <p:cNvSpPr/>
          <p:nvPr/>
        </p:nvSpPr>
        <p:spPr>
          <a:xfrm rot="5400000">
            <a:off x="-510825" y="510823"/>
            <a:ext cx="3495795" cy="2474149"/>
          </a:xfrm>
          <a:custGeom>
            <a:avLst/>
            <a:gdLst/>
            <a:ahLst/>
            <a:cxnLst/>
            <a:rect l="l" t="t" r="r" b="b"/>
            <a:pathLst>
              <a:path w="6274865" h="4114800">
                <a:moveTo>
                  <a:pt x="0" y="0"/>
                </a:moveTo>
                <a:lnTo>
                  <a:pt x="6274865" y="0"/>
                </a:lnTo>
                <a:lnTo>
                  <a:pt x="627486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79606" t="1" r="110" b="-66312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36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973095" y="6716884"/>
            <a:ext cx="3314905" cy="3570116"/>
          </a:xfrm>
          <a:custGeom>
            <a:avLst/>
            <a:gdLst/>
            <a:ahLst/>
            <a:cxnLst/>
            <a:rect l="l" t="t" r="r" b="b"/>
            <a:pathLst>
              <a:path w="6274865" h="4114800">
                <a:moveTo>
                  <a:pt x="0" y="0"/>
                </a:moveTo>
                <a:lnTo>
                  <a:pt x="6274865" y="0"/>
                </a:lnTo>
                <a:lnTo>
                  <a:pt x="627486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" t="1" r="-89291" b="-15256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13855162" y="1602669"/>
            <a:ext cx="2235865" cy="2235865"/>
          </a:xfrm>
          <a:custGeom>
            <a:avLst/>
            <a:gdLst/>
            <a:ahLst/>
            <a:cxnLst/>
            <a:rect l="l" t="t" r="r" b="b"/>
            <a:pathLst>
              <a:path w="2235865" h="2235865">
                <a:moveTo>
                  <a:pt x="0" y="0"/>
                </a:moveTo>
                <a:lnTo>
                  <a:pt x="2235866" y="0"/>
                </a:lnTo>
                <a:lnTo>
                  <a:pt x="2235866" y="2235865"/>
                </a:lnTo>
                <a:lnTo>
                  <a:pt x="0" y="22358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/>
          <p:cNvGrpSpPr/>
          <p:nvPr/>
        </p:nvGrpSpPr>
        <p:grpSpPr>
          <a:xfrm>
            <a:off x="666750" y="1562100"/>
            <a:ext cx="11035341" cy="8633460"/>
            <a:chOff x="0" y="0"/>
            <a:chExt cx="14713788" cy="11511280"/>
          </a:xfrm>
        </p:grpSpPr>
        <p:sp>
          <p:nvSpPr>
            <p:cNvPr id="5" name="TextBox 5"/>
            <p:cNvSpPr txBox="1"/>
            <p:nvPr/>
          </p:nvSpPr>
          <p:spPr>
            <a:xfrm>
              <a:off x="0" y="0"/>
              <a:ext cx="11099800" cy="28194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399"/>
                </a:lnSpc>
                <a:spcBef>
                  <a:spcPct val="0"/>
                </a:spcBef>
              </a:pPr>
              <a:r>
                <a:rPr lang="en-US" sz="6999" spc="-139">
                  <a:solidFill>
                    <a:srgbClr val="839496"/>
                  </a:solidFill>
                  <a:latin typeface="Tenor Sans"/>
                  <a:ea typeface="Tenor Sans"/>
                  <a:cs typeface="Tenor Sans"/>
                  <a:sym typeface="Tenor Sans"/>
                </a:rPr>
                <a:t>Technology Stack &amp; Tools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3581364"/>
              <a:ext cx="11099800" cy="48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6C71C4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TOOLS FOR BUILDING THE CLASSIFIER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4600575"/>
              <a:ext cx="14713788" cy="69107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839496"/>
                  </a:solidFill>
                  <a:latin typeface="Clear Sans"/>
                  <a:ea typeface="Clear Sans"/>
                  <a:cs typeface="Clear Sans"/>
                  <a:sym typeface="Clear Sans"/>
                </a:rPr>
                <a:t>1. Core &amp; Data Processing</a:t>
              </a:r>
            </a:p>
            <a:p>
              <a:pPr marL="906780" lvl="2" indent="-302260" algn="l">
                <a:lnSpc>
                  <a:spcPts val="2940"/>
                </a:lnSpc>
                <a:buFont typeface="Arial"/>
                <a:buChar char="⚬"/>
              </a:pPr>
              <a:r>
                <a:rPr lang="en-US" sz="2100">
                  <a:solidFill>
                    <a:srgbClr val="839496"/>
                  </a:solidFill>
                  <a:latin typeface="Clear Sans"/>
                  <a:ea typeface="Clear Sans"/>
                  <a:cs typeface="Clear Sans"/>
                  <a:sym typeface="Clear Sans"/>
                </a:rPr>
                <a:t>Python 3.x: Primary logic.</a:t>
              </a:r>
            </a:p>
            <a:p>
              <a:pPr marL="906780" lvl="2" indent="-302260" algn="l">
                <a:lnSpc>
                  <a:spcPts val="2940"/>
                </a:lnSpc>
                <a:buFont typeface="Arial"/>
                <a:buChar char="⚬"/>
              </a:pPr>
              <a:r>
                <a:rPr lang="en-US" sz="2100">
                  <a:solidFill>
                    <a:srgbClr val="839496"/>
                  </a:solidFill>
                  <a:latin typeface="Clear Sans"/>
                  <a:ea typeface="Clear Sans"/>
                  <a:cs typeface="Clear Sans"/>
                  <a:sym typeface="Clear Sans"/>
                </a:rPr>
                <a:t>Pandas &amp; NumPy: For dataframe manipulation and vectorization.</a:t>
              </a:r>
            </a:p>
            <a:p>
              <a:pPr marL="906780" lvl="2" indent="-302260" algn="l">
                <a:lnSpc>
                  <a:spcPts val="2940"/>
                </a:lnSpc>
                <a:buFont typeface="Arial"/>
                <a:buChar char="⚬"/>
              </a:pPr>
              <a:r>
                <a:rPr lang="en-US" sz="2100">
                  <a:solidFill>
                    <a:srgbClr val="839496"/>
                  </a:solidFill>
                  <a:latin typeface="Clear Sans"/>
                  <a:ea typeface="Clear Sans"/>
                  <a:cs typeface="Clear Sans"/>
                  <a:sym typeface="Clear Sans"/>
                </a:rPr>
                <a:t>Re &amp; Urllib: Regex for pattern matching (IP detection) and parsing URL structures.</a:t>
              </a:r>
            </a:p>
            <a:p>
              <a:pPr algn="l">
                <a:lnSpc>
                  <a:spcPts val="2940"/>
                </a:lnSpc>
              </a:pPr>
              <a:endParaRPr lang="en-US" sz="2100">
                <a:solidFill>
                  <a:srgbClr val="839496"/>
                </a:solidFill>
                <a:latin typeface="Clear Sans"/>
                <a:ea typeface="Clear Sans"/>
                <a:cs typeface="Clear Sans"/>
                <a:sym typeface="Clear Sans"/>
              </a:endParaRPr>
            </a:p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839496"/>
                  </a:solidFill>
                  <a:latin typeface="Clear Sans"/>
                  <a:ea typeface="Clear Sans"/>
                  <a:cs typeface="Clear Sans"/>
                  <a:sym typeface="Clear Sans"/>
                </a:rPr>
                <a:t>2. Machine Learning Engine</a:t>
              </a:r>
            </a:p>
            <a:p>
              <a:pPr marL="906780" lvl="2" indent="-302260" algn="l">
                <a:lnSpc>
                  <a:spcPts val="2940"/>
                </a:lnSpc>
                <a:buFont typeface="Arial"/>
                <a:buChar char="⚬"/>
              </a:pPr>
              <a:r>
                <a:rPr lang="en-US" sz="2100">
                  <a:solidFill>
                    <a:srgbClr val="839496"/>
                  </a:solidFill>
                  <a:latin typeface="Clear Sans"/>
                  <a:ea typeface="Clear Sans"/>
                  <a:cs typeface="Clear Sans"/>
                  <a:sym typeface="Clear Sans"/>
                </a:rPr>
                <a:t>Scikit-Learn: Used for the Random Forest Classifier implementation.</a:t>
              </a:r>
            </a:p>
            <a:p>
              <a:pPr marL="906780" lvl="2" indent="-302260" algn="l">
                <a:lnSpc>
                  <a:spcPts val="2940"/>
                </a:lnSpc>
                <a:buFont typeface="Arial"/>
                <a:buChar char="⚬"/>
              </a:pPr>
              <a:r>
                <a:rPr lang="en-US" sz="2100">
                  <a:solidFill>
                    <a:srgbClr val="839496"/>
                  </a:solidFill>
                  <a:latin typeface="Clear Sans"/>
                  <a:ea typeface="Clear Sans"/>
                  <a:cs typeface="Clear Sans"/>
                  <a:sym typeface="Clear Sans"/>
                </a:rPr>
                <a:t>Matplotlib/Seaborn: For visualizing the Confusion Matrix (accuracy)  and entropy data distribution.</a:t>
              </a:r>
            </a:p>
            <a:p>
              <a:pPr algn="l">
                <a:lnSpc>
                  <a:spcPts val="2940"/>
                </a:lnSpc>
              </a:pPr>
              <a:endParaRPr lang="en-US" sz="2100">
                <a:solidFill>
                  <a:srgbClr val="839496"/>
                </a:solidFill>
                <a:latin typeface="Clear Sans"/>
                <a:ea typeface="Clear Sans"/>
                <a:cs typeface="Clear Sans"/>
                <a:sym typeface="Clear Sans"/>
              </a:endParaRPr>
            </a:p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839496"/>
                  </a:solidFill>
                  <a:latin typeface="Clear Sans"/>
                  <a:ea typeface="Clear Sans"/>
                  <a:cs typeface="Clear Sans"/>
                  <a:sym typeface="Clear Sans"/>
                </a:rPr>
                <a:t>3. Development Environment</a:t>
              </a:r>
            </a:p>
            <a:p>
              <a:pPr marL="906780" lvl="2" indent="-302260" algn="l">
                <a:lnSpc>
                  <a:spcPts val="2940"/>
                </a:lnSpc>
                <a:buFont typeface="Arial"/>
                <a:buChar char="⚬"/>
              </a:pPr>
              <a:r>
                <a:rPr lang="en-US" sz="2100">
                  <a:solidFill>
                    <a:srgbClr val="839496"/>
                  </a:solidFill>
                  <a:latin typeface="Clear Sans"/>
                  <a:ea typeface="Clear Sans"/>
                  <a:cs typeface="Clear Sans"/>
                  <a:sym typeface="Clear Sans"/>
                </a:rPr>
                <a:t>Visual Studio Code: IDE for coding and testing.</a:t>
              </a:r>
            </a:p>
            <a:p>
              <a:pPr marL="906780" lvl="2" indent="-302260" algn="l">
                <a:lnSpc>
                  <a:spcPts val="2940"/>
                </a:lnSpc>
                <a:buFont typeface="Arial"/>
                <a:buChar char="⚬"/>
              </a:pPr>
              <a:r>
                <a:rPr lang="en-US" sz="2100">
                  <a:solidFill>
                    <a:srgbClr val="839496"/>
                  </a:solidFill>
                  <a:latin typeface="Clear Sans"/>
                  <a:ea typeface="Clear Sans"/>
                  <a:cs typeface="Clear Sans"/>
                  <a:sym typeface="Clear Sans"/>
                </a:rPr>
                <a:t>Git &amp; GitHub: For version control and cloud storage.</a:t>
              </a:r>
            </a:p>
            <a:p>
              <a:pPr algn="l">
                <a:lnSpc>
                  <a:spcPts val="2940"/>
                </a:lnSpc>
              </a:pPr>
              <a:endParaRPr lang="en-US" sz="2100">
                <a:solidFill>
                  <a:srgbClr val="839496"/>
                </a:solidFill>
                <a:latin typeface="Clear Sans"/>
                <a:ea typeface="Clear Sans"/>
                <a:cs typeface="Clear Sans"/>
                <a:sym typeface="Clear Sans"/>
              </a:endParaRPr>
            </a:p>
          </p:txBody>
        </p:sp>
      </p:grpSp>
      <p:sp>
        <p:nvSpPr>
          <p:cNvPr id="8" name="Freeform 8"/>
          <p:cNvSpPr/>
          <p:nvPr/>
        </p:nvSpPr>
        <p:spPr>
          <a:xfrm>
            <a:off x="13855162" y="4312552"/>
            <a:ext cx="2235865" cy="2235865"/>
          </a:xfrm>
          <a:custGeom>
            <a:avLst/>
            <a:gdLst/>
            <a:ahLst/>
            <a:cxnLst/>
            <a:rect l="l" t="t" r="r" b="b"/>
            <a:pathLst>
              <a:path w="2235865" h="2235865">
                <a:moveTo>
                  <a:pt x="0" y="0"/>
                </a:moveTo>
                <a:lnTo>
                  <a:pt x="2235866" y="0"/>
                </a:lnTo>
                <a:lnTo>
                  <a:pt x="2235866" y="2235865"/>
                </a:lnTo>
                <a:lnTo>
                  <a:pt x="0" y="22358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Freeform 9"/>
          <p:cNvSpPr/>
          <p:nvPr/>
        </p:nvSpPr>
        <p:spPr>
          <a:xfrm>
            <a:off x="13855162" y="7022435"/>
            <a:ext cx="2235865" cy="2235865"/>
          </a:xfrm>
          <a:custGeom>
            <a:avLst/>
            <a:gdLst/>
            <a:ahLst/>
            <a:cxnLst/>
            <a:rect l="l" t="t" r="r" b="b"/>
            <a:pathLst>
              <a:path w="2235865" h="2235865">
                <a:moveTo>
                  <a:pt x="0" y="0"/>
                </a:moveTo>
                <a:lnTo>
                  <a:pt x="2235866" y="0"/>
                </a:lnTo>
                <a:lnTo>
                  <a:pt x="2235866" y="2235865"/>
                </a:lnTo>
                <a:lnTo>
                  <a:pt x="0" y="22358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Freeform 2">
            <a:extLst>
              <a:ext uri="{FF2B5EF4-FFF2-40B4-BE49-F238E27FC236}">
                <a16:creationId xmlns:a16="http://schemas.microsoft.com/office/drawing/2014/main" id="{3919E3E4-35FC-5993-847E-4DC912F9182B}"/>
              </a:ext>
            </a:extLst>
          </p:cNvPr>
          <p:cNvSpPr/>
          <p:nvPr/>
        </p:nvSpPr>
        <p:spPr>
          <a:xfrm rot="10800000">
            <a:off x="8023720" y="-11285"/>
            <a:ext cx="6274865" cy="2134712"/>
          </a:xfrm>
          <a:custGeom>
            <a:avLst/>
            <a:gdLst/>
            <a:ahLst/>
            <a:cxnLst/>
            <a:rect l="l" t="t" r="r" b="b"/>
            <a:pathLst>
              <a:path w="6274865" h="4114800">
                <a:moveTo>
                  <a:pt x="0" y="0"/>
                </a:moveTo>
                <a:lnTo>
                  <a:pt x="6274865" y="0"/>
                </a:lnTo>
                <a:lnTo>
                  <a:pt x="627486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b="-51230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B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347428" y="0"/>
            <a:ext cx="5940572" cy="10287000"/>
            <a:chOff x="0" y="0"/>
            <a:chExt cx="980354" cy="169763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80355" cy="1697632"/>
            </a:xfrm>
            <a:custGeom>
              <a:avLst/>
              <a:gdLst/>
              <a:ahLst/>
              <a:cxnLst/>
              <a:rect l="l" t="t" r="r" b="b"/>
              <a:pathLst>
                <a:path w="980355" h="1697632">
                  <a:moveTo>
                    <a:pt x="0" y="0"/>
                  </a:moveTo>
                  <a:lnTo>
                    <a:pt x="980355" y="0"/>
                  </a:lnTo>
                  <a:lnTo>
                    <a:pt x="980355" y="1697632"/>
                  </a:lnTo>
                  <a:lnTo>
                    <a:pt x="0" y="1697632"/>
                  </a:lnTo>
                  <a:close/>
                </a:path>
              </a:pathLst>
            </a:custGeom>
            <a:blipFill>
              <a:blip r:embed="rId2"/>
              <a:stretch>
                <a:fillRect t="-4738" b="-8106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666750" y="1562100"/>
            <a:ext cx="9763125" cy="6997284"/>
            <a:chOff x="0" y="0"/>
            <a:chExt cx="13017500" cy="9329712"/>
          </a:xfrm>
        </p:grpSpPr>
        <p:sp>
          <p:nvSpPr>
            <p:cNvPr id="5" name="TextBox 5"/>
            <p:cNvSpPr txBox="1"/>
            <p:nvPr/>
          </p:nvSpPr>
          <p:spPr>
            <a:xfrm>
              <a:off x="0" y="0"/>
              <a:ext cx="13017500" cy="28158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399"/>
                </a:lnSpc>
              </a:pPr>
              <a:r>
                <a:rPr lang="en-US" sz="6999" spc="-139">
                  <a:solidFill>
                    <a:srgbClr val="839496"/>
                  </a:solidFill>
                  <a:latin typeface="Tenor Sans"/>
                  <a:ea typeface="Tenor Sans"/>
                  <a:cs typeface="Tenor Sans"/>
                  <a:sym typeface="Tenor Sans"/>
                </a:rPr>
                <a:t>Dataset Generation &amp; Training Strategy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3747956"/>
              <a:ext cx="13017500" cy="5300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60"/>
                </a:lnSpc>
                <a:spcBef>
                  <a:spcPct val="0"/>
                </a:spcBef>
              </a:pPr>
              <a:r>
                <a:rPr lang="en-US" sz="2400" b="1" u="none" strike="noStrike">
                  <a:solidFill>
                    <a:srgbClr val="839496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CREATING A LABELED DATASET FOR TRAINING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4941739"/>
              <a:ext cx="13017500" cy="43879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906780" lvl="2" indent="-302260" algn="l">
                <a:lnSpc>
                  <a:spcPts val="2939"/>
                </a:lnSpc>
                <a:spcBef>
                  <a:spcPct val="0"/>
                </a:spcBef>
                <a:buFont typeface="Arial"/>
                <a:buChar char="⚬"/>
              </a:pPr>
              <a:r>
                <a:rPr lang="en-US" sz="2099" dirty="0">
                  <a:solidFill>
                    <a:srgbClr val="839496"/>
                  </a:solidFill>
                  <a:latin typeface="Clear Sans"/>
                  <a:ea typeface="Clear Sans"/>
                  <a:cs typeface="Clear Sans"/>
                  <a:sym typeface="Clear Sans"/>
                </a:rPr>
                <a:t>Synthetic Data Generation: Created a controlled dataset of 400+ URLs to simulate specific attack vectors (DGA, IP-based, </a:t>
              </a:r>
              <a:r>
                <a:rPr lang="en-US" sz="2099" dirty="0" err="1">
                  <a:solidFill>
                    <a:srgbClr val="839496"/>
                  </a:solidFill>
                  <a:latin typeface="Clear Sans"/>
                  <a:ea typeface="Clear Sans"/>
                  <a:cs typeface="Clear Sans"/>
                  <a:sym typeface="Clear Sans"/>
                </a:rPr>
                <a:t>Typosquatting</a:t>
              </a:r>
              <a:r>
                <a:rPr lang="en-US" sz="2099" dirty="0">
                  <a:solidFill>
                    <a:srgbClr val="839496"/>
                  </a:solidFill>
                  <a:latin typeface="Clear Sans"/>
                  <a:ea typeface="Clear Sans"/>
                  <a:cs typeface="Clear Sans"/>
                  <a:sym typeface="Clear Sans"/>
                </a:rPr>
                <a:t>).</a:t>
              </a:r>
            </a:p>
            <a:p>
              <a:pPr algn="l">
                <a:lnSpc>
                  <a:spcPts val="2939"/>
                </a:lnSpc>
                <a:spcBef>
                  <a:spcPct val="0"/>
                </a:spcBef>
              </a:pPr>
              <a:endParaRPr lang="en-US" sz="2099" dirty="0">
                <a:solidFill>
                  <a:srgbClr val="839496"/>
                </a:solidFill>
                <a:latin typeface="Clear Sans"/>
                <a:ea typeface="Clear Sans"/>
                <a:cs typeface="Clear Sans"/>
                <a:sym typeface="Clear Sans"/>
              </a:endParaRPr>
            </a:p>
            <a:p>
              <a:pPr marL="906780" lvl="2" indent="-302260" algn="l">
                <a:lnSpc>
                  <a:spcPts val="2939"/>
                </a:lnSpc>
                <a:spcBef>
                  <a:spcPct val="0"/>
                </a:spcBef>
                <a:buFont typeface="Arial"/>
                <a:buChar char="⚬"/>
              </a:pPr>
              <a:r>
                <a:rPr lang="en-US" sz="2099" dirty="0">
                  <a:solidFill>
                    <a:srgbClr val="839496"/>
                  </a:solidFill>
                  <a:latin typeface="Clear Sans"/>
                  <a:ea typeface="Clear Sans"/>
                  <a:cs typeface="Clear Sans"/>
                  <a:sym typeface="Clear Sans"/>
                </a:rPr>
                <a:t>Class Balance: Maintained a strict 50:50 ratio (Safe vs. Malicious) to prevent model bias.</a:t>
              </a:r>
            </a:p>
            <a:p>
              <a:pPr algn="l">
                <a:lnSpc>
                  <a:spcPts val="2939"/>
                </a:lnSpc>
                <a:spcBef>
                  <a:spcPct val="0"/>
                </a:spcBef>
              </a:pPr>
              <a:endParaRPr lang="en-US" sz="2099" dirty="0">
                <a:solidFill>
                  <a:srgbClr val="839496"/>
                </a:solidFill>
                <a:latin typeface="Clear Sans"/>
                <a:ea typeface="Clear Sans"/>
                <a:cs typeface="Clear Sans"/>
                <a:sym typeface="Clear Sans"/>
              </a:endParaRPr>
            </a:p>
            <a:p>
              <a:pPr marL="906780" lvl="2" indent="-302260" algn="l">
                <a:lnSpc>
                  <a:spcPts val="2939"/>
                </a:lnSpc>
                <a:spcBef>
                  <a:spcPct val="0"/>
                </a:spcBef>
                <a:buFont typeface="Arial"/>
                <a:buChar char="⚬"/>
              </a:pPr>
              <a:r>
                <a:rPr lang="en-US" sz="2099" dirty="0">
                  <a:solidFill>
                    <a:srgbClr val="839496"/>
                  </a:solidFill>
                  <a:latin typeface="Clear Sans"/>
                  <a:ea typeface="Clear Sans"/>
                  <a:cs typeface="Clear Sans"/>
                  <a:sym typeface="Clear Sans"/>
                </a:rPr>
                <a:t>Train-Test Split: Utilized an 80/20 split (80% for training, 20% for validation) to ensure the model can generalize to unseen data.</a:t>
              </a:r>
            </a:p>
            <a:p>
              <a:pPr marL="0" lvl="0" indent="0" algn="l">
                <a:lnSpc>
                  <a:spcPts val="2939"/>
                </a:lnSpc>
                <a:spcBef>
                  <a:spcPct val="0"/>
                </a:spcBef>
              </a:pPr>
              <a:endParaRPr lang="en-US" sz="2099" dirty="0">
                <a:solidFill>
                  <a:srgbClr val="839496"/>
                </a:solidFill>
                <a:latin typeface="Clear Sans"/>
                <a:ea typeface="Clear Sans"/>
                <a:cs typeface="Clear Sans"/>
                <a:sym typeface="Clear Sans"/>
              </a:endParaRPr>
            </a:p>
          </p:txBody>
        </p:sp>
      </p:grpSp>
      <p:sp>
        <p:nvSpPr>
          <p:cNvPr id="8" name="Freeform 2">
            <a:extLst>
              <a:ext uri="{FF2B5EF4-FFF2-40B4-BE49-F238E27FC236}">
                <a16:creationId xmlns:a16="http://schemas.microsoft.com/office/drawing/2014/main" id="{0C273A92-6BCD-979E-B34F-FEC863491559}"/>
              </a:ext>
            </a:extLst>
          </p:cNvPr>
          <p:cNvSpPr/>
          <p:nvPr/>
        </p:nvSpPr>
        <p:spPr>
          <a:xfrm rot="5400000">
            <a:off x="81297" y="8112862"/>
            <a:ext cx="2111893" cy="2274485"/>
          </a:xfrm>
          <a:custGeom>
            <a:avLst/>
            <a:gdLst/>
            <a:ahLst/>
            <a:cxnLst/>
            <a:rect l="l" t="t" r="r" b="b"/>
            <a:pathLst>
              <a:path w="6274865" h="4114800">
                <a:moveTo>
                  <a:pt x="0" y="0"/>
                </a:moveTo>
                <a:lnTo>
                  <a:pt x="6274865" y="0"/>
                </a:lnTo>
                <a:lnTo>
                  <a:pt x="627486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" t="1" r="-89291" b="-15256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36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42558" y="507973"/>
            <a:ext cx="9815206" cy="6827401"/>
            <a:chOff x="0" y="0"/>
            <a:chExt cx="13086941" cy="9103202"/>
          </a:xfrm>
        </p:grpSpPr>
        <p:sp>
          <p:nvSpPr>
            <p:cNvPr id="3" name="TextBox 3"/>
            <p:cNvSpPr txBox="1"/>
            <p:nvPr/>
          </p:nvSpPr>
          <p:spPr>
            <a:xfrm>
              <a:off x="0" y="4676775"/>
              <a:ext cx="11671789" cy="442642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3390" lvl="1" indent="-226695" algn="l">
                <a:lnSpc>
                  <a:spcPts val="2940"/>
                </a:lnSpc>
                <a:buFont typeface="Arial"/>
                <a:buChar char="•"/>
              </a:pPr>
              <a:r>
                <a:rPr lang="en-US" sz="2100" dirty="0">
                  <a:solidFill>
                    <a:srgbClr val="839496"/>
                  </a:solidFill>
                  <a:latin typeface="Clear Sans"/>
                  <a:ea typeface="Clear Sans"/>
                  <a:cs typeface="Clear Sans"/>
                  <a:sym typeface="Clear Sans"/>
                </a:rPr>
                <a:t>High Accuracy: "Achieved 94% accuracy on the synthetic test set using the Random Forest Classifier."</a:t>
              </a:r>
            </a:p>
            <a:p>
              <a:pPr algn="l">
                <a:lnSpc>
                  <a:spcPts val="2940"/>
                </a:lnSpc>
              </a:pPr>
              <a:endParaRPr lang="en-US" sz="2100" dirty="0">
                <a:solidFill>
                  <a:srgbClr val="839496"/>
                </a:solidFill>
                <a:latin typeface="Clear Sans"/>
                <a:ea typeface="Clear Sans"/>
                <a:cs typeface="Clear Sans"/>
                <a:sym typeface="Clear Sans"/>
              </a:endParaRPr>
            </a:p>
            <a:p>
              <a:pPr marL="453390" lvl="1" indent="-226695" algn="l">
                <a:lnSpc>
                  <a:spcPts val="2940"/>
                </a:lnSpc>
                <a:buFont typeface="Arial"/>
                <a:buChar char="•"/>
              </a:pPr>
              <a:r>
                <a:rPr lang="en-US" sz="2100" dirty="0">
                  <a:solidFill>
                    <a:srgbClr val="839496"/>
                  </a:solidFill>
                  <a:latin typeface="Clear Sans"/>
                  <a:ea typeface="Clear Sans"/>
                  <a:cs typeface="Clear Sans"/>
                  <a:sym typeface="Clear Sans"/>
                </a:rPr>
                <a:t>Robust Detection: "Successfully flagged high-entropy domains (Entropy &gt; 4.0) and raw IP-based phishing attempts."</a:t>
              </a:r>
            </a:p>
            <a:p>
              <a:pPr algn="l">
                <a:lnSpc>
                  <a:spcPts val="2940"/>
                </a:lnSpc>
              </a:pPr>
              <a:endParaRPr lang="en-US" sz="2100" dirty="0">
                <a:solidFill>
                  <a:srgbClr val="839496"/>
                </a:solidFill>
                <a:latin typeface="Clear Sans"/>
                <a:ea typeface="Clear Sans"/>
                <a:cs typeface="Clear Sans"/>
                <a:sym typeface="Clear Sans"/>
              </a:endParaRPr>
            </a:p>
            <a:p>
              <a:pPr marL="453390" lvl="1" indent="-226695" algn="l">
                <a:lnSpc>
                  <a:spcPts val="2940"/>
                </a:lnSpc>
                <a:buFont typeface="Arial"/>
                <a:buChar char="•"/>
              </a:pPr>
              <a:r>
                <a:rPr lang="en-US" sz="2100" dirty="0">
                  <a:solidFill>
                    <a:srgbClr val="839496"/>
                  </a:solidFill>
                  <a:latin typeface="Clear Sans"/>
                  <a:ea typeface="Clear Sans"/>
                  <a:cs typeface="Clear Sans"/>
                  <a:sym typeface="Clear Sans"/>
                </a:rPr>
                <a:t>Real-Time Performance: "Classification speed is almost instantaneous, making it suitable for real-time firewall integration."</a:t>
              </a:r>
            </a:p>
            <a:p>
              <a:pPr marL="0" lvl="0" indent="0" algn="l">
                <a:lnSpc>
                  <a:spcPts val="2940"/>
                </a:lnSpc>
              </a:pPr>
              <a:endParaRPr lang="en-US" sz="2100" dirty="0">
                <a:solidFill>
                  <a:srgbClr val="839496"/>
                </a:solidFill>
                <a:latin typeface="Clear Sans"/>
                <a:ea typeface="Clear Sans"/>
                <a:cs typeface="Clear Sans"/>
                <a:sym typeface="Clear San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3530600"/>
              <a:ext cx="11099800" cy="482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79"/>
                </a:lnSpc>
                <a:spcBef>
                  <a:spcPct val="0"/>
                </a:spcBef>
              </a:pPr>
              <a:r>
                <a:rPr lang="en-US" sz="2400" b="1" u="none">
                  <a:solidFill>
                    <a:srgbClr val="839496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MODEL ACCURACY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0"/>
              <a:ext cx="13086941" cy="28194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399"/>
                </a:lnSpc>
              </a:pPr>
              <a:r>
                <a:rPr lang="en-US" sz="6999" spc="-139">
                  <a:solidFill>
                    <a:srgbClr val="839496"/>
                  </a:solidFill>
                  <a:latin typeface="Tenor Sans"/>
                  <a:ea typeface="Tenor Sans"/>
                  <a:cs typeface="Tenor Sans"/>
                  <a:sym typeface="Tenor Sans"/>
                </a:rPr>
                <a:t>Experimental Results &amp; Analysis</a:t>
              </a:r>
            </a:p>
          </p:txBody>
        </p:sp>
      </p:grpSp>
      <p:sp>
        <p:nvSpPr>
          <p:cNvPr id="6" name="Freeform 6"/>
          <p:cNvSpPr/>
          <p:nvPr/>
        </p:nvSpPr>
        <p:spPr>
          <a:xfrm rot="16200000">
            <a:off x="14222822" y="-49624"/>
            <a:ext cx="4015555" cy="4114800"/>
          </a:xfrm>
          <a:custGeom>
            <a:avLst/>
            <a:gdLst/>
            <a:ahLst/>
            <a:cxnLst/>
            <a:rect l="l" t="t" r="r" b="b"/>
            <a:pathLst>
              <a:path w="6274865" h="4114800">
                <a:moveTo>
                  <a:pt x="0" y="0"/>
                </a:moveTo>
                <a:lnTo>
                  <a:pt x="6274865" y="0"/>
                </a:lnTo>
                <a:lnTo>
                  <a:pt x="627486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r="-56264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7" name="Freeform 7"/>
          <p:cNvSpPr/>
          <p:nvPr/>
        </p:nvSpPr>
        <p:spPr>
          <a:xfrm>
            <a:off x="7613103" y="7071590"/>
            <a:ext cx="10469936" cy="3055284"/>
          </a:xfrm>
          <a:custGeom>
            <a:avLst/>
            <a:gdLst/>
            <a:ahLst/>
            <a:cxnLst/>
            <a:rect l="l" t="t" r="r" b="b"/>
            <a:pathLst>
              <a:path w="10469936" h="3055284">
                <a:moveTo>
                  <a:pt x="0" y="0"/>
                </a:moveTo>
                <a:lnTo>
                  <a:pt x="10469936" y="0"/>
                </a:lnTo>
                <a:lnTo>
                  <a:pt x="10469936" y="3055283"/>
                </a:lnTo>
                <a:lnTo>
                  <a:pt x="0" y="305528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7635B11-4613-A09A-BFE5-2AABE96A5B8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45002" y="2942056"/>
            <a:ext cx="8338037" cy="3810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86E7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4646580" cy="10287000"/>
          </a:xfrm>
          <a:custGeom>
            <a:avLst/>
            <a:gdLst/>
            <a:ahLst/>
            <a:cxnLst/>
            <a:rect l="l" t="t" r="r" b="b"/>
            <a:pathLst>
              <a:path w="27274407" h="25058977">
                <a:moveTo>
                  <a:pt x="0" y="0"/>
                </a:moveTo>
                <a:lnTo>
                  <a:pt x="27274407" y="0"/>
                </a:lnTo>
                <a:lnTo>
                  <a:pt x="27274407" y="25058977"/>
                </a:lnTo>
                <a:lnTo>
                  <a:pt x="0" y="250589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8750" t="-74959" r="1210" b="-15119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 rot="5400000">
            <a:off x="11389578" y="3388581"/>
            <a:ext cx="9414271" cy="4382571"/>
          </a:xfrm>
          <a:custGeom>
            <a:avLst/>
            <a:gdLst/>
            <a:ahLst/>
            <a:cxnLst/>
            <a:rect l="l" t="t" r="r" b="b"/>
            <a:pathLst>
              <a:path w="12122938" h="11672351">
                <a:moveTo>
                  <a:pt x="0" y="0"/>
                </a:moveTo>
                <a:lnTo>
                  <a:pt x="12122939" y="0"/>
                </a:lnTo>
                <a:lnTo>
                  <a:pt x="12122939" y="11672352"/>
                </a:lnTo>
                <a:lnTo>
                  <a:pt x="0" y="116723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166336" r="-28772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TextBox 4"/>
          <p:cNvSpPr txBox="1"/>
          <p:nvPr/>
        </p:nvSpPr>
        <p:spPr>
          <a:xfrm>
            <a:off x="1028700" y="1028700"/>
            <a:ext cx="11201400" cy="2114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399"/>
              </a:lnSpc>
            </a:pPr>
            <a:r>
              <a:rPr lang="en-US" sz="6999" spc="-139" dirty="0">
                <a:solidFill>
                  <a:srgbClr val="839496"/>
                </a:solidFill>
                <a:latin typeface="Tenor Sans"/>
                <a:ea typeface="Tenor Sans"/>
                <a:cs typeface="Tenor Sans"/>
                <a:sym typeface="Tenor Sans"/>
              </a:rPr>
              <a:t>Conclusion &amp;</a:t>
            </a:r>
          </a:p>
          <a:p>
            <a:pPr marL="0" lvl="0" indent="0" algn="l">
              <a:lnSpc>
                <a:spcPts val="8399"/>
              </a:lnSpc>
            </a:pPr>
            <a:r>
              <a:rPr lang="en-US" sz="6999" spc="-139" dirty="0">
                <a:solidFill>
                  <a:srgbClr val="839496"/>
                </a:solidFill>
                <a:latin typeface="Tenor Sans"/>
                <a:ea typeface="Tenor Sans"/>
                <a:cs typeface="Tenor Sans"/>
                <a:sym typeface="Tenor Sans"/>
              </a:rPr>
              <a:t>Future Scope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205836" y="3496373"/>
            <a:ext cx="9058173" cy="6643496"/>
            <a:chOff x="0" y="-76200"/>
            <a:chExt cx="12077563" cy="8857994"/>
          </a:xfrm>
        </p:grpSpPr>
        <p:sp>
          <p:nvSpPr>
            <p:cNvPr id="6" name="TextBox 6"/>
            <p:cNvSpPr txBox="1"/>
            <p:nvPr/>
          </p:nvSpPr>
          <p:spPr>
            <a:xfrm>
              <a:off x="0" y="-76200"/>
              <a:ext cx="12057458" cy="11734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en-US" sz="2400" b="1">
                  <a:solidFill>
                    <a:srgbClr val="ABBCBE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CONCLUSION</a:t>
              </a:r>
            </a:p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endParaRPr lang="en-US" sz="2400" b="1">
                <a:solidFill>
                  <a:srgbClr val="ABBCBE"/>
                </a:solidFill>
                <a:latin typeface="Clear Sans Bold"/>
                <a:ea typeface="Clear Sans Bold"/>
                <a:cs typeface="Clear Sans Bold"/>
                <a:sym typeface="Clear Sans Bold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1176735"/>
              <a:ext cx="12057458" cy="9671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839496"/>
                  </a:solidFill>
                  <a:latin typeface="Clear Sans"/>
                  <a:ea typeface="Clear Sans"/>
                  <a:cs typeface="Clear Sans"/>
                  <a:sym typeface="Clear Sans"/>
                </a:rPr>
                <a:t>T</a:t>
              </a:r>
              <a:r>
                <a:rPr lang="en-US" sz="2100" u="none">
                  <a:solidFill>
                    <a:srgbClr val="839496"/>
                  </a:solidFill>
                  <a:latin typeface="Clear Sans"/>
                  <a:ea typeface="Clear Sans"/>
                  <a:cs typeface="Clear Sans"/>
                  <a:sym typeface="Clear Sans"/>
                </a:rPr>
                <a:t>he prototype validates that Machine Learning can successfully detect zero-day phishing attacks that static blocklists miss.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2819375"/>
              <a:ext cx="12057458" cy="11734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ABBCBE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FUTURE ENHANCEMENTS</a:t>
              </a:r>
            </a:p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endParaRPr lang="en-US" sz="2400" b="1">
                <a:solidFill>
                  <a:srgbClr val="ABBCBE"/>
                </a:solidFill>
                <a:latin typeface="Clear Sans Bold"/>
                <a:ea typeface="Clear Sans Bold"/>
                <a:cs typeface="Clear Sans Bold"/>
                <a:sym typeface="Clear Sans Bold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4072310"/>
              <a:ext cx="12057458" cy="34436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53390" lvl="1" indent="-226695" algn="l">
                <a:lnSpc>
                  <a:spcPts val="294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100">
                  <a:solidFill>
                    <a:srgbClr val="839496"/>
                  </a:solidFill>
                  <a:latin typeface="Clear Sans"/>
                  <a:ea typeface="Clear Sans"/>
                  <a:cs typeface="Clear Sans"/>
                  <a:sym typeface="Clear Sans"/>
                </a:rPr>
                <a:t>WHOIS Integration: Check domain age (new domains are suspicious).</a:t>
              </a:r>
            </a:p>
            <a:p>
              <a:pPr algn="l">
                <a:lnSpc>
                  <a:spcPts val="2940"/>
                </a:lnSpc>
                <a:spcBef>
                  <a:spcPct val="0"/>
                </a:spcBef>
              </a:pPr>
              <a:endParaRPr lang="en-US" sz="2100">
                <a:solidFill>
                  <a:srgbClr val="839496"/>
                </a:solidFill>
                <a:latin typeface="Clear Sans"/>
                <a:ea typeface="Clear Sans"/>
                <a:cs typeface="Clear Sans"/>
                <a:sym typeface="Clear Sans"/>
              </a:endParaRPr>
            </a:p>
            <a:p>
              <a:pPr marL="453390" lvl="1" indent="-226695" algn="l">
                <a:lnSpc>
                  <a:spcPts val="294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100">
                  <a:solidFill>
                    <a:srgbClr val="839496"/>
                  </a:solidFill>
                  <a:latin typeface="Clear Sans"/>
                  <a:ea typeface="Clear Sans"/>
                  <a:cs typeface="Clear Sans"/>
                  <a:sym typeface="Clear Sans"/>
                </a:rPr>
                <a:t>Levenshtein Distance: Detect "Typosquatting" (e.g., g00gle vs google).</a:t>
              </a:r>
            </a:p>
            <a:p>
              <a:pPr algn="l">
                <a:lnSpc>
                  <a:spcPts val="2940"/>
                </a:lnSpc>
                <a:spcBef>
                  <a:spcPct val="0"/>
                </a:spcBef>
              </a:pPr>
              <a:endParaRPr lang="en-US" sz="2100">
                <a:solidFill>
                  <a:srgbClr val="839496"/>
                </a:solidFill>
                <a:latin typeface="Clear Sans"/>
                <a:ea typeface="Clear Sans"/>
                <a:cs typeface="Clear Sans"/>
                <a:sym typeface="Clear Sans"/>
              </a:endParaRPr>
            </a:p>
            <a:p>
              <a:pPr marL="453390" lvl="1" indent="-226695" algn="l">
                <a:lnSpc>
                  <a:spcPts val="294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100">
                  <a:solidFill>
                    <a:srgbClr val="839496"/>
                  </a:solidFill>
                  <a:latin typeface="Clear Sans"/>
                  <a:ea typeface="Clear Sans"/>
                  <a:cs typeface="Clear Sans"/>
                  <a:sym typeface="Clear Sans"/>
                </a:rPr>
                <a:t>Browser Extension: Deploy as a Chrome/Edge plugin for end-user protection.</a:t>
              </a:r>
            </a:p>
            <a:p>
              <a:pPr marL="0" lvl="0" indent="0" algn="l">
                <a:lnSpc>
                  <a:spcPts val="2940"/>
                </a:lnSpc>
                <a:spcBef>
                  <a:spcPct val="0"/>
                </a:spcBef>
              </a:pPr>
              <a:endParaRPr lang="en-US" sz="2100">
                <a:solidFill>
                  <a:srgbClr val="839496"/>
                </a:solidFill>
                <a:latin typeface="Clear Sans"/>
                <a:ea typeface="Clear Sans"/>
                <a:cs typeface="Clear Sans"/>
                <a:sym typeface="Clear San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0105" y="7831874"/>
              <a:ext cx="12057458" cy="5638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ABBCBE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DEEPU R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8309989"/>
              <a:ext cx="12057458" cy="471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  <a:spcBef>
                  <a:spcPct val="0"/>
                </a:spcBef>
              </a:pPr>
              <a:r>
                <a:rPr lang="en-US" sz="2100" b="1" dirty="0">
                  <a:solidFill>
                    <a:srgbClr val="839496"/>
                  </a:solidFill>
                  <a:latin typeface="Clear Sans"/>
                  <a:ea typeface="Clear Sans"/>
                  <a:cs typeface="Clear Sans"/>
                  <a:sym typeface="Clear Sans"/>
                </a:rPr>
                <a:t>github.com/deepuramesh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5484244" y="4614863"/>
            <a:ext cx="11201400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399"/>
              </a:lnSpc>
            </a:pPr>
            <a:r>
              <a:rPr lang="en-US" sz="6999" spc="-139">
                <a:solidFill>
                  <a:srgbClr val="002B36"/>
                </a:solidFill>
                <a:latin typeface="Tenor Sans"/>
                <a:ea typeface="Tenor Sans"/>
                <a:cs typeface="Tenor Sans"/>
                <a:sym typeface="Tenor Sans"/>
              </a:rPr>
              <a:t>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EFE1DD6EED6C54CBFD60585C4C352C8" ma:contentTypeVersion="11" ma:contentTypeDescription="Create a new document." ma:contentTypeScope="" ma:versionID="24cf6517f7e16159a1c95c77f02eceb9">
  <xsd:schema xmlns:xsd="http://www.w3.org/2001/XMLSchema" xmlns:xs="http://www.w3.org/2001/XMLSchema" xmlns:p="http://schemas.microsoft.com/office/2006/metadata/properties" xmlns:ns3="36194ae6-5a3a-4f88-a224-24e0a3ed8ed7" targetNamespace="http://schemas.microsoft.com/office/2006/metadata/properties" ma:root="true" ma:fieldsID="d354e7625954430a8d11487002e17fce" ns3:_="">
    <xsd:import namespace="36194ae6-5a3a-4f88-a224-24e0a3ed8ed7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194ae6-5a3a-4f88-a224-24e0a3ed8ed7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8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6194ae6-5a3a-4f88-a224-24e0a3ed8ed7" xsi:nil="true"/>
  </documentManagement>
</p:properties>
</file>

<file path=customXml/itemProps1.xml><?xml version="1.0" encoding="utf-8"?>
<ds:datastoreItem xmlns:ds="http://schemas.openxmlformats.org/officeDocument/2006/customXml" ds:itemID="{073D84A2-9C7C-4D9F-8208-DD93468D51D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6194ae6-5a3a-4f88-a224-24e0a3ed8ed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29D155D-9151-4C56-A95E-08B9A2FBCEE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8C9993B-7AE9-41FD-827C-8CD6F4ACDC61}">
  <ds:schemaRefs>
    <ds:schemaRef ds:uri="http://schemas.openxmlformats.org/package/2006/metadata/core-properties"/>
    <ds:schemaRef ds:uri="http://purl.org/dc/terms/"/>
    <ds:schemaRef ds:uri="36194ae6-5a3a-4f88-a224-24e0a3ed8ed7"/>
    <ds:schemaRef ds:uri="http://purl.org/dc/dcmitype/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www.w3.org/XML/1998/namespace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532</TotalTime>
  <Words>609</Words>
  <Application>Microsoft Office PowerPoint</Application>
  <PresentationFormat>Custom</PresentationFormat>
  <Paragraphs>75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Clear Sans</vt:lpstr>
      <vt:lpstr>Calibri</vt:lpstr>
      <vt:lpstr>Clear Sans Bold</vt:lpstr>
      <vt:lpstr>Clear Sans Medium</vt:lpstr>
      <vt:lpstr>Arial</vt:lpstr>
      <vt:lpstr>Aptos</vt:lpstr>
      <vt:lpstr>Tenor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Malicious URL Classifier</dc:title>
  <dc:creator>deepu</dc:creator>
  <dc:description>Presentation - Malicious URL Classifier</dc:description>
  <cp:lastModifiedBy>Deepu R - [AA.SC.P2MCA24077088]</cp:lastModifiedBy>
  <cp:revision>5</cp:revision>
  <dcterms:created xsi:type="dcterms:W3CDTF">2006-08-16T00:00:00Z</dcterms:created>
  <dcterms:modified xsi:type="dcterms:W3CDTF">2026-01-18T05:58:04Z</dcterms:modified>
  <dc:identifier>DAG-s88WNA4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0x010100DEFE1DD6EED6C54CBFD60585C4C352C8</vt:lpwstr>
  </property>
</Properties>
</file>